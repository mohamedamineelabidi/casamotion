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CasaMotion turns Casablanca's fragmented taxi market into a real-time data platform. I'll walk through the problem, the architecture, and exactly what we built week by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pain point is a data problem, not a vehicle problem. That framing is the foundation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capabilities. Each maps to a measurable target later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master map. Flink does all real-time work; Spark is batch-only. Kafka is replayable — that's Kappa, not Lambda.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trade-offs are the questions a jury will ask. MinIO not HDFS; Flink not Spark Streaming for sub-5s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hard part wasn't Docker — it was the geography. We pre-computed an H3 lookup so every GPS event resolves its zone in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Real, irregular arrondissement shapes because demand follows neighbourhoods, not squares.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zone's tier is computed from four real signals; we verify the summed population equals HCP's 3.28 million.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Porto gives authentic motion; OSRM routes it along actual Casablanca streets using OSM road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OSM gives shapes, transit, roads. HCP+Glovo give tiers→multipliers. NYC sets WHEN. Eight panels confirm realism.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Coupled mode pairs each trip with a real routed polyline so taxis move on actual streets. Keys let Flink keyBy without reshuffle.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are designed around the queries. The ADR documents every decision for defensibility.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Watermarks let Flink emit correct windows even when pings arrive late. We use cassandra-driver execute_async, not the official connector.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Adjacent-zone fan-out gives 1.2s P95; anonymization proves the raw coordinate never reaches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Spark is strictly offline. Porto gives motion; NYC gives demand patterns; both become curated Parquet for the ML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New York? No open Casablanca taxi dataset. We borrow patterns, not values, then re-anchor with census+commerce. NYC never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caught and removed label leakage — the difference between a notebook model and a production one. Temporal split because it's a time series.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selected nine features on causal grounds and report importances as evidence. Lag-1-day dominating is exactly what an analyst expects.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beat the mandatory naive 7-day-lag baseline globally by 45.8% and in every zone. R² 0.75 on a held-out future window is strong and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fallback: heuristic by default so it runs in a tiny image; Spark only when enabled. /api/trips closes the loop into Kafka→Flink.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MinIO is the connective tissue. Spark, Flink, Connect all use one S3 API. HDFS would need different connectors + a NameNode.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Grafana talks straight to Cassandra. The geomap shows taxis on real roads; we expose snap distance for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great full-pipeline debugging example: the bug spanned four layers; we fixed all and wrote a checker to prevent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Reproducible from a single compose file. The healthcheck script verifies all 16 containers, 3 Flink jobs, and data freshness.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 claim, we verify with a script. Freshness numbers and realism checks are reproducible live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meet or beat every measured target. The open item is a formal load test of the forecast API — queued in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loop tells the whole story: request a trip via API → Kafka → Flink → matched → live on dashboard → then forecast 30 min ahead.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concrete deliverables, all verifiable. The platform runs end-to-end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a real problem and a real fix. The leakage catch and road-snap fix show the most technical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Feature-complete through Week 6. Week 7 = hardening + SLAs; Week 8 = polished demo. Open cahier items: Kafka ACLs + checkpoint-recovery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the wire is JSON for readability and zero-ops. Flink serializes keyed state into RocksDB, checkpointed to MinIO.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Keying GPS on taxi_id and trips on origin_zone lines up the keyBy with Kafka partitioning, avoiding an extra network shuffle.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RocksDB holds state; checkpoints snapshot it to MinIO every minute with Kafka offsets; exactly-once means crashes resume with no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engines all need the same storage. MinIO shares one S3 API; HDFS would need separate connectors + a NameNode to keep alive.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Forest cuts variance via bagging; GBT lowers bias via boosting and wins on tabular. We beat the mandatory baseline by 45.8%.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guarantees a jury cares about: exactly-once correctness (no inflated counts) and privacy (raw coordinate never reaches the DB).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built a complete, real-time, ML-powered mobility platform for Casablanca — every claim backed by code and a verification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six URLs I'll open during the live demo. The Q&amp;A page covers the 15 most likely jury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7160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FB0D6"/>
                </a:solidFill>
                <a:latin typeface="Segoe UI"/>
              </a:rPr>
              <a:t>Real-Time Urban Mobility Intelligence Platform for Casablanca, Morocco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Kafka · Flink · Spark · Cassandra · MinIO · FastAPI · Grafana ·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9EEFB"/>
                </a:solidFill>
                <a:latin typeface="Segoe UI"/>
              </a:rPr>
              <a:t>Kappa streaming architecture  ·  16-container stack  ·  ML demand forecasting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0D6"/>
                </a:solidFill>
                <a:latin typeface="Segoe UI"/>
              </a:rPr>
              <a:t>Built over 6 delivery weeks + a parallel Phase-4 data-synthesis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Casablanca: 4 million people, zero shared mobility data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No shared data layer — taxis &amp; minibuses run with no GPS, booking, or schedule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0">
                <a:solidFill>
                  <a:srgbClr val="E9EEFB"/>
                </a:solidFill>
                <a:latin typeface="Segoe UI"/>
              </a:rPr>
              <a:t>Demand blindness — drivers cruise empty; riders wait with no visibility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0">
                <a:solidFill>
                  <a:srgbClr val="E9EEFB"/>
                </a:solidFill>
                <a:latin typeface="Segoe UI"/>
              </a:rPr>
              <a:t>No interoperability — ONCF rail, BRT and taxis share no data or ticketing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0">
                <a:solidFill>
                  <a:srgbClr val="E9EEFB"/>
                </a:solidFill>
                <a:latin typeface="Segoe UI"/>
              </a:rPr>
              <a:t>Cash-only — no trip history, no analytics, no personalization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0">
                <a:solidFill>
                  <a:srgbClr val="E9EEFB"/>
                </a:solidFill>
                <a:latin typeface="Segoe UI"/>
              </a:rPr>
              <a:t>Underserved periphery — Bouskoura, Sidi Moumen grow faster than routes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Core problem = absence of a DATA LAYER connecting supply to demand</a:t>
            </a:r>
          </a:p>
        </p:txBody>
      </p:sp>
      <p:pic>
        <p:nvPicPr>
          <p:cNvPr id="7" name="Picture 6" descr="pain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4297680" cy="2288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SOLUTION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Treat urban mobility as a data-engineering problem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Dynamic rider–vehicle matching — nearest taxi in under 5 seconds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Demand surge forecasting — trips per zone predicted 30 min ahead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City-wide visibility — live heatmaps, KPI dashboards, coverage gaps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Data-driven planning — find zones where demand exceeds supply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0">
                <a:solidFill>
                  <a:srgbClr val="E9EEFB"/>
                </a:solidFill>
                <a:latin typeface="Segoe UI"/>
              </a:rPr>
              <a:t>Cahier des charges: real-time ingestion, event-time processing, serving DB, batch ML, dashboards, secured API</a:t>
            </a:r>
          </a:p>
        </p:txBody>
      </p:sp>
      <p:pic>
        <p:nvPicPr>
          <p:cNvPr id="7" name="Picture 6" descr="project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4297680" cy="22859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ARCHITECTURE OVERVIEW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Kappa architecture — Kafka is the single source of truth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Producers → Kafka (KRaft) → Flink (3 jobs) → Cassandra → Grafana / FastAPI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MinIO = data lake (raw / curated / mldata / kafka-archive)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Spark = offline only (ETL + ML training), never serves live queries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16 Docker containers on one network (taasim-net)</a:t>
            </a:r>
          </a:p>
        </p:txBody>
      </p:sp>
      <p:pic>
        <p:nvPicPr>
          <p:cNvPr id="7" name="Picture 6" descr="architecture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45920"/>
            <a:ext cx="63093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WHY THESE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Every choice has a documented rationale (ADR v1)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5760720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Over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Kappa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Lambda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One processing layer; Kafka is replayable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Kafka KRaft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+ ZooKeeper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One fewer service, faster failover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Flink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Kafka Streams / Spark Streaming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True event-time windows, sub-second latency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Cassandra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Postgres / Redis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Query-driven partitioning, native TTL, write-optimized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MinIO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HDFS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S3 API for Spark + Flink + Connect; no NameNode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JSON on wire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Avro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Debuggable in Kafka UI, no schema registry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H3 res-9 lookup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point-in-polygon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O(1) dict lookup vs O(16) ray-cast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Week 1 —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Stack · Datasets · Zone Geography · Producers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1: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Stand up the platform and prepare the geography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Docker Compose stack — Kafka, MinIO, Cassandra, Flink, Spark, Grafana, Jupyter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Datasets → MinIO — Porto (1.8 GiB) + NYC TLC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Porto EDA — 1.7M trips, GPS polylines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Zone remapping — Porto bbox → Casablanca, 16 arrondissements (v4)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Kafka producers v1 — GPS + trip requests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51206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Problem: </a:t>
            </a:r>
            <a:r>
              <a:rPr sz="1400" b="0">
                <a:solidFill>
                  <a:srgbClr val="E9EEFB"/>
                </a:solidFill>
                <a:latin typeface="Segoe UI"/>
              </a:rPr>
              <a:t>Porto coordinates are in Portugal; needed a faithful transform to Casablanca respecting 16 real arrondissement shapes.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Solution: </a:t>
            </a:r>
            <a:r>
              <a:rPr sz="1400" b="0">
                <a:solidFill>
                  <a:srgbClr val="E9EEFB"/>
                </a:solidFill>
                <a:latin typeface="Segoe UI"/>
              </a:rPr>
              <a:t>linear bbox transform + H3 res-9 lookup (h3_zone_lookup.json) for O(1) zone assignment.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ZONE REMAPPING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How we draw Casablanca's 16 zones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Approach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 rejected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Uniform 500 m grid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Splits real neighbourhoods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H3 res-8 hex (~260)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Too many, no admin meaning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Irregular polygons ✅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Match real admin boundaries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60020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9 zones = official OpenStreetMap admin-boundary polygons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7 zones = Voronoi cells on named OSM place-nodes (northern suburbs), clipped to urban boundary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All polygons clipped to remove ocean slivers/overlaps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Output: zone_mapping_v4.csv + casablanca_ae_map.html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Honesty note: </a:t>
            </a:r>
            <a:r>
              <a:rPr sz="1300" b="0">
                <a:solidFill>
                  <a:srgbClr val="E9EEFB"/>
                </a:solidFill>
                <a:latin typeface="Segoe UI"/>
              </a:rPr>
              <a:t>the 7 Voronoi zones are a demand-aggregation scaffold, not a cartographic claim — every downstream stage treats all 16 as abstract zone_ids.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ZONE REMAPPING · STEP 2 — A–E ACTIVITY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An activity tier from a weighted multi-source formula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score_z = 0.30·c_z + 0.40·ρ_z + 0.20·d_z + 0.10·t_z   (all features min-max normalised to [0,1])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6675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13716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Weight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Population density ρ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HCP 2024 census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0.40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Commerce weight c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Glovo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0.30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POI diversity 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Glovo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0.20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Transit hubs 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OpenStreetMap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0.10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228600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Population dominates (0.40): demand scales with residents/km²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Quantile cut [2,4,5,4,1] → A=dense CBD … E=lowest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Reconciles to HCP's 3.28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PORTO SIMULATION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Warping real GPS onto Casablanca roads (7 stages)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LOAD — Porto polylines; filter 1.5–18 km, 3–30 min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SAMPLE — stratify by length → 500 trips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ASSIGN — A–E transition matrix → zone by population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AFFINE — linear Porto bbox → Casa bbox (cahier transform)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ANCHOR — pull to centroid (α=0.80) + jitter σ≈160 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OSRM — route on real Casa street network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PERSIST — curated_trajectories_v4.parquet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4297680" cy="329184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Warped trajectories on real streets</a:t>
            </a:r>
          </a:p>
          <a:p>
            <a:pPr algn="ctr"/>
            <a:r>
              <a:rPr sz="1000">
                <a:solidFill>
                  <a:srgbClr val="22D3EE"/>
                </a:solidFill>
                <a:latin typeface="Consolas"/>
              </a:rPr>
              <a:t>notebooks/casablanca_trajectories_v4.html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Population + OSM drive realistic demand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11064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E9EEFB"/>
                </a:solidFill>
                <a:latin typeface="Segoe UI"/>
              </a:rPr>
              <a:t>HCP population + Glovo commerce + OSM transit  →  A–E activity score  →  demand multipliers {A:1.8 … E:0.5}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9EEFB"/>
                </a:solidFill>
                <a:latin typeface="Segoe UI"/>
              </a:rPr>
              <a:t>OSM admin boundaries  →  16 zone polygons  →  population-weighted origin sampling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9EEFB"/>
                </a:solidFill>
                <a:latin typeface="Segoe UI"/>
              </a:rPr>
              <a:t>OSM road network (OSRM)  →  road-snapped Porto trajectories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9EEFB"/>
                </a:solidFill>
                <a:latin typeface="Segoe UI"/>
              </a:rPr>
              <a:t>NYC temporal fingerprint  →  hourly / DoW curve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⇒  casa_trip_requests  (500K trips, 90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Origin weight: origin_p[z] = pop_2024[z] × ae_mult[z]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Validation 8/8: A/E ratio ≈ 3.6×, twin peaks 08:00/18:00, Fri-high/Sun-low, 70/30 petit/grand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1 DEEP DIVE: PRODUCERS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Two Python producers replay Casa traffic into Kafka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vehicle_gps_producer.py → raw.gps, key=taxi_id</a:t>
            </a:r>
          </a:p>
          <a:p>
            <a:pPr lvl="1">
              <a:spcAft>
                <a:spcPts val="7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–  </a:t>
            </a:r>
            <a:r>
              <a:rPr sz="1300" b="0">
                <a:solidFill>
                  <a:srgbClr val="E9EEFB"/>
                </a:solidFill>
                <a:latin typeface="Segoe UI"/>
              </a:rPr>
              <a:t>COUPLED: interpolate OSRM polyline, ±20 m noise, 5% blackout, road-snap</a:t>
            </a:r>
          </a:p>
          <a:p>
            <a:pPr lvl="1">
              <a:spcAft>
                <a:spcPts val="7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–  </a:t>
            </a:r>
            <a:r>
              <a:rPr sz="1300" b="0">
                <a:solidFill>
                  <a:srgbClr val="E9EEFB"/>
                </a:solidFill>
                <a:latin typeface="Segoe UI"/>
              </a:rPr>
              <a:t>H3 res-9 → zone, ring fallback r=1..5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trip_request_producer.py → raw.trips, key=origin_zone</a:t>
            </a:r>
          </a:p>
          <a:p>
            <a:pPr lvl="1">
              <a:spcAft>
                <a:spcPts val="7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–  </a:t>
            </a:r>
            <a:r>
              <a:rPr sz="1300" b="0">
                <a:solidFill>
                  <a:srgbClr val="E9EEFB"/>
                </a:solidFill>
                <a:latin typeface="Segoe UI"/>
              </a:rPr>
              <a:t>Hourly multiplier (peaks 08/18), petit/grand split, MAD tariffs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Wire: JSON, acks=all, retries=3</a:t>
            </a:r>
          </a:p>
        </p:txBody>
      </p:sp>
      <p:pic>
        <p:nvPicPr>
          <p:cNvPr id="7" name="Picture 6" descr="flink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389120" cy="3608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Week 2 — Storage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Kafka Connect · Cassandra Schema · ADR v1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2: STORAGE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Persist the streams and lock the data model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Kafka Connect S3 Sink — raw.gps + raw.trips → s3://kafka-archive/YYYY/MM/DD/HH/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Cassandra schema — 3 tables, INSERT + SELECT tested · ADR v1 written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7432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Partition key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Clustering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TTL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vehicle_positions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(city, zone_id)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event_time DESC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24 h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demand_zones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(city, zone_id)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window_start DESC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7 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trips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(city, date_bucket)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created_at DESC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Problem: </a:t>
            </a:r>
            <a:r>
              <a:rPr sz="1300" b="0">
                <a:solidFill>
                  <a:srgbClr val="E9EEFB"/>
                </a:solidFill>
                <a:latin typeface="Segoe UI"/>
              </a:rPr>
              <a:t>an unbounded trips partition grows forever.  </a:t>
            </a:r>
            <a:r>
              <a:rPr sz="1300" b="1">
                <a:solidFill>
                  <a:srgbClr val="22D3EE"/>
                </a:solidFill>
                <a:latin typeface="Segoe UI"/>
              </a:rPr>
              <a:t>Solution: </a:t>
            </a:r>
            <a:r>
              <a:rPr sz="1300" b="0">
                <a:solidFill>
                  <a:srgbClr val="E9EEFB"/>
                </a:solidFill>
                <a:latin typeface="Segoe UI"/>
              </a:rPr>
              <a:t>date_bucket caps each partition (&lt; 100 MB guidance).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Week 3 — Real-Time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Flink Jobs 1–3 · Matching · Anonymization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3: REAL-TIME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Three PyFlink jobs turn raw events into serving state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Job 1 · GPS Normalizer — raw.gps → validate, dedup, H3 zone, road-snap → vehicle_positions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Job 2 · Demand Aggregator — 30 s tumbling windows → demand_zones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Job 3 · Trip Matcher — keyBy zone, MapState, adjacent fan-out + dedup → trips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Checkpoints: RocksDB, EXACTLY_ONCE, 60 s → MinIO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Watermarks: 3-min (Job 1); 10 s + idleness (Jobs 2/3)</a:t>
            </a:r>
          </a:p>
        </p:txBody>
      </p:sp>
      <p:pic>
        <p:nvPicPr>
          <p:cNvPr id="7" name="Picture 6" descr="streamproce_archit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389120" cy="17754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3 DEEP DIVE: MATCHING &amp; ANONYMIZATION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Sub-second matching + privacy by design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Cost: 0.7·haversine_km + 0.3·idle_bonus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Adjacent fan-out: neighbours compete; first free taxi wins via shared Set&lt;trip_id&gt; dedup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Match P95 ≈ 1.2 s (target &lt; 5 s)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Anonymization: snap to centroid + hash jitter — raw lat/lon never persisted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2057400" cy="1371600"/>
          </a:xfrm>
          <a:prstGeom prst="roundRect">
            <a:avLst/>
          </a:prstGeom>
          <a:solidFill>
            <a:srgbClr val="14224D"/>
          </a:solidFill>
          <a:ln w="12700"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2D3EE"/>
                </a:solidFill>
              </a:rPr>
              <a:t>1.2 s</a:t>
            </a:r>
          </a:p>
          <a:p>
            <a:pPr algn="ctr"/>
            <a:r>
              <a:rPr sz="1000">
                <a:solidFill>
                  <a:srgbClr val="9FB0D6"/>
                </a:solidFill>
              </a:rPr>
              <a:t>P95 match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737360"/>
            <a:ext cx="2057400" cy="1371600"/>
          </a:xfrm>
          <a:prstGeom prst="roundRect">
            <a:avLst/>
          </a:prstGeom>
          <a:solidFill>
            <a:srgbClr val="14224D"/>
          </a:solidFill>
          <a:ln w="12700"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22D3EE"/>
                </a:solidFill>
              </a:rPr>
              <a:t>21%</a:t>
            </a:r>
          </a:p>
          <a:p>
            <a:pPr algn="ctr"/>
            <a:r>
              <a:rPr sz="1000">
                <a:solidFill>
                  <a:srgbClr val="9FB0D6"/>
                </a:solidFill>
              </a:rPr>
              <a:t>matched (fleet 2000 @ 50×)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Problem: </a:t>
            </a:r>
            <a:r>
              <a:rPr sz="1200" b="0">
                <a:solidFill>
                  <a:srgbClr val="E9EEFB"/>
                </a:solidFill>
                <a:latin typeface="Segoe UI"/>
              </a:rPr>
              <a:t>match rate only 4.2% (fleet 500, 10×).  </a:t>
            </a:r>
            <a:r>
              <a:rPr sz="1200" b="1">
                <a:solidFill>
                  <a:srgbClr val="22D3EE"/>
                </a:solidFill>
                <a:latin typeface="Segoe UI"/>
              </a:rPr>
              <a:t>Solution: </a:t>
            </a:r>
            <a:r>
              <a:rPr sz="1200" b="0">
                <a:solidFill>
                  <a:srgbClr val="E9EEFB"/>
                </a:solidFill>
                <a:latin typeface="Segoe UI"/>
              </a:rPr>
              <a:t>scaled to fleet 2000 @ 50× → 21%.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Week 5 — Batch ETL (Spark)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Porto + NYC → Curated Parquet · Offline only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5: BATCH ETL WITH SPARK (OFFLINE)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Spark cleans donor datasets into curated Parquet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Porto ETL — 1,710,670 → 1,660,794 valid → s3://curated/trips/ (43 MiB)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NYC TLC ETL — 9.38M → 8.81M → 192K demand rows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KPI analytics — 6 datasets (trips/zone, hourly, heatmap, gaps…)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Kappa rule: NYC is batch-only — never enters Kafka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Problem: </a:t>
            </a:r>
            <a:r>
              <a:rPr sz="1300" b="0">
                <a:solidFill>
                  <a:srgbClr val="E9EEFB"/>
                </a:solidFill>
                <a:latin typeface="Segoe UI"/>
              </a:rPr>
              <a:t>Spark image lacked numpy.  </a:t>
            </a:r>
            <a:r>
              <a:rPr sz="1300" b="1">
                <a:solidFill>
                  <a:srgbClr val="22D3EE"/>
                </a:solidFill>
                <a:latin typeface="Segoe UI"/>
              </a:rPr>
              <a:t>Solution: </a:t>
            </a:r>
            <a:r>
              <a:rPr sz="1300" b="0">
                <a:solidFill>
                  <a:srgbClr val="E9EEFB"/>
                </a:solidFill>
                <a:latin typeface="Segoe UI"/>
              </a:rPr>
              <a:t>install numpy at startup; bump RAM (worker 4g, master 3g).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37360"/>
            <a:ext cx="4297680" cy="274320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Spark Master UI — completed apps</a:t>
            </a:r>
          </a:p>
          <a:p>
            <a:pPr algn="ctr"/>
            <a:r>
              <a:rPr sz="1000">
                <a:solidFill>
                  <a:srgbClr val="22D3EE"/>
                </a:solidFill>
                <a:latin typeface="Consolas"/>
              </a:rPr>
              <a:t>http://localhost:8080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THE NYC DATA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NYC = demand fingerprint, never streamed, never trains the model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Role 1 · Trip synthesis — borrow NYC curve/DoW/OD → 500K Casa trips / 90 days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Role 2 · Batch ETL exercise — prove Spark handles multi-GB data (cahier §2.2)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Re-anchored to Casa with HCP 2024 + Glovo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Validation 8/8 (70.6% petit / 29.4% grand, A/E 3.65×)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4297680" cy="310896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NYC→Casa synthesis EDA (8-panel)</a:t>
            </a:r>
          </a:p>
          <a:p>
            <a:pPr algn="ctr"/>
            <a:r>
              <a:rPr sz="1000">
                <a:solidFill>
                  <a:srgbClr val="22D3EE"/>
                </a:solidFill>
                <a:latin typeface="Consolas"/>
              </a:rPr>
              <a:t>data/casa_synthesis/eda_figures.png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DELIVERY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Week 6 — Machine Learning +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Features · GBT Model · FastAPI Serving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6: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Build a leakage-free feature matrix (183,981 rows)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Input: s3://curated/trips/  →  Output: s3://mldata/features/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Target: demand = trips per zone per 30-min slot (48 slots/day)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Features: hour_of_day, day_of_week, is_weekend, is_peak, slot_of_day, zone_idx, demand_lag_1d, demand_lag_7d, rolling_7d_mean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The critical fix: </a:t>
            </a:r>
            <a:r>
              <a:rPr sz="1500" b="0">
                <a:solidFill>
                  <a:srgbClr val="E9EEFB"/>
                </a:solidFill>
                <a:latin typeface="Segoe UI"/>
              </a:rPr>
              <a:t>an earlier draft included supply and supply_demand_ratio — both from the SAME 30-min slot as the target → label leakage. Removed both; kept only retrospective lag/rolling features. Temporal split (not random) at 2014-05-01.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6: FEATURE SELECTION VS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Two different concepts — we did both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Selection (before): allow only if knowable in advance &amp; non-leaking → removed supply*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Importance (after): GBT featureImportances shows what trees split 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69164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Importance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demand_lag_1d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~0.38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rolling_7d_mean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~0.24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hour_of_day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E9EEFB"/>
                          </a:solidFill>
                          <a:latin typeface="Segoe UI"/>
                        </a:rPr>
                        <a:t>~0.17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6: GBT MODEL TRAINING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Gradient Boosted Trees beat the baseline by 45.8%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Algorithm: Spark MLlib GBTRegressor (maxDepth=5, maxIter=50, stepSize=0.1)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Pipeline: StringIndexer → VectorAssembler → GBTRegressor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Split: temporal — Train 151,911 / Test 32,070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Every one of 16 zones beats the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2057400" cy="1371600"/>
          </a:xfrm>
          <a:prstGeom prst="roundRect">
            <a:avLst/>
          </a:prstGeom>
          <a:solidFill>
            <a:srgbClr val="14224D"/>
          </a:solidFill>
          <a:ln w="12700"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2D3EE"/>
                </a:solidFill>
              </a:rPr>
              <a:t>3.71</a:t>
            </a:r>
          </a:p>
          <a:p>
            <a:pPr algn="ctr"/>
            <a:r>
              <a:rPr sz="1000">
                <a:solidFill>
                  <a:srgbClr val="9FB0D6"/>
                </a:solidFill>
              </a:rPr>
              <a:t>RMSE (vs 6.84)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737360"/>
            <a:ext cx="2057400" cy="1371600"/>
          </a:xfrm>
          <a:prstGeom prst="roundRect">
            <a:avLst/>
          </a:prstGeom>
          <a:solidFill>
            <a:srgbClr val="14224D"/>
          </a:solidFill>
          <a:ln w="12700"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2D3EE"/>
                </a:solidFill>
              </a:rPr>
              <a:t>0.75</a:t>
            </a:r>
          </a:p>
          <a:p>
            <a:pPr algn="ctr"/>
            <a:r>
              <a:rPr sz="1000">
                <a:solidFill>
                  <a:srgbClr val="9FB0D6"/>
                </a:solidFill>
              </a:rPr>
              <a:t>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291839"/>
            <a:ext cx="2057400" cy="1371600"/>
          </a:xfrm>
          <a:prstGeom prst="roundRect">
            <a:avLst/>
          </a:prstGeom>
          <a:solidFill>
            <a:srgbClr val="14224D"/>
          </a:solidFill>
          <a:ln w="12700"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2D3EE"/>
                </a:solidFill>
              </a:rPr>
              <a:t>2.11</a:t>
            </a:r>
          </a:p>
          <a:p>
            <a:pPr algn="ctr"/>
            <a:r>
              <a:rPr sz="1000">
                <a:solidFill>
                  <a:srgbClr val="9FB0D6"/>
                </a:solidFill>
              </a:rPr>
              <a:t>MAE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3291839"/>
            <a:ext cx="2057400" cy="1371600"/>
          </a:xfrm>
          <a:prstGeom prst="roundRect">
            <a:avLst/>
          </a:prstGeom>
          <a:solidFill>
            <a:srgbClr val="14224D"/>
          </a:solidFill>
          <a:ln w="12700">
            <a:solidFill>
              <a:srgbClr val="2D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2D3EE"/>
                </a:solidFill>
              </a:rPr>
              <a:t>−45.8%</a:t>
            </a:r>
          </a:p>
          <a:p>
            <a:pPr algn="ctr"/>
            <a:r>
              <a:rPr sz="1000">
                <a:solidFill>
                  <a:srgbClr val="9FB0D6"/>
                </a:solidFill>
              </a:rPr>
              <a:t>vs baseline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WEEK 6: SERVING API (FASTAPI)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Seven JWT-secured REST endpoints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675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  <a:gridCol w="2377440"/>
              </a:tblGrid>
              <a:tr h="41801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Path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/api/auth/token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Issue HS256 JWT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/api/demand/forecast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Predict demand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/api/trips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Publish to raw.trips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/api/zones · /{id}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Zone catalog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/api/vehicles/{zone_id}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Latest vehicles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/api/health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9EEFB"/>
                          </a:solidFill>
                          <a:latin typeface="Segoe UI"/>
                        </a:rPr>
                        <a:t>Liveness + model_loaded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98079" y="1691640"/>
            <a:ext cx="4114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Heuristic mode (default) — deterministic, &lt;5 ms, slim image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1">
                <a:solidFill>
                  <a:srgbClr val="E9EEFB"/>
                </a:solidFill>
                <a:latin typeface="Segoe UI"/>
              </a:rPr>
              <a:t>PySpark mode — PYSPARK_ENABLED=1 loads GBT model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300" b="0">
                <a:solidFill>
                  <a:srgbClr val="E9EEFB"/>
                </a:solidFill>
                <a:latin typeface="Segoe UI"/>
              </a:rPr>
              <a:t>Lazy init — Cassandra/Kafka on first 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572000"/>
            <a:ext cx="4114800" cy="109728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Swagger UI</a:t>
            </a:r>
          </a:p>
          <a:p>
            <a:pPr algn="ctr"/>
            <a:r>
              <a:rPr sz="1000">
                <a:solidFill>
                  <a:srgbClr val="22D3EE"/>
                </a:solidFill>
                <a:latin typeface="Consolas"/>
              </a:rPr>
              <a:t>http://localhost:8000/docs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CROSS-CUTTING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Storage · Observability ·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MinIO · Grafana · Docker Compose · Testing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STORAGE &amp; DATA LAKE (MINIO)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One S3-compatible lake, four lifecycle zones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675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Bucket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Writer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Reader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raw/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manual upload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ETL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curated/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ETL, Flink ckpt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ML, recovery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mldata/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ML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FastAPI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kafka-archive/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Kafka Connect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replay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Why MinIO not HDFS: single binary, S3 API for all engines, no NameNode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737360"/>
            <a:ext cx="4114800" cy="292608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MinIO console — 4 buckets</a:t>
            </a:r>
          </a:p>
          <a:p>
            <a:pPr algn="ctr"/>
            <a:r>
              <a:rPr sz="1000">
                <a:solidFill>
                  <a:srgbClr val="22D3EE"/>
                </a:solidFill>
                <a:latin typeface="Consolas"/>
              </a:rPr>
              <a:t>http://localhost:9001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OBSERVABILITY (GRAFANA)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Live dashboards read Cassandra directly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Plugin: hadesarchitect-cassandra-datasource (CQL :9042)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Dashboard 'CasaMotion — Live Pipeline', 5 s refresh, $date_bucket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Panels: road-snapped geomap, demand heatmap, active vehicles, pending requests, trips-by-status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snap_dist_m surfaced for road-realism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4297680" cy="310896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Grafana — taxis on streets + demand</a:t>
            </a:r>
          </a:p>
          <a:p>
            <a:pPr algn="ctr"/>
            <a:r>
              <a:rPr sz="1000">
                <a:solidFill>
                  <a:srgbClr val="22D3EE"/>
                </a:solidFill>
                <a:latin typeface="Consolas"/>
              </a:rPr>
              <a:t>http://localhost:3000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ENGINEERING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vehicle-map realism fix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Symptom: taxis fixed/off-road (centroid+jitter overwrote live coords)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Fixes: GPS_DISPLAY_MODE=road default; producer road-snaps after noise, rejects &gt; 80 m; added snap_dist_m; 32 dashboard queries updated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Verify: check-vehicle-movement.ps1 — 4 checks PASS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The bug spanned FOUR layers: producer, Flink, Cassandra schema, Grafana — all fixed + automated checker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DEPLOYMENT (DOCKER COMPOSE)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One command brings up 16 containers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docker compose up -d → Kafka, Connect, Kafka UI, MinIO, Cassandra, Flink, Spark, Grafana, Jupyter, producers, API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Healthchecks gate dependent services; named volumes persist state; network taasim-net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Ops scripts: register-connectors, ensure-cassandra-schema, submit-flink-jobs, verify-flink-jobs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480560"/>
            <a:ext cx="11064240" cy="1280160"/>
          </a:xfrm>
          <a:prstGeom prst="roundRect">
            <a:avLst/>
          </a:prstGeom>
          <a:solidFill>
            <a:srgbClr val="14224D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📷  docker compose ps (all healthy) + demo-healthcheck.ps1</a:t>
            </a:r>
          </a:p>
          <a:p>
            <a:pPr algn="ctr"/>
            <a:r>
              <a:rPr sz="900" i="1">
                <a:solidFill>
                  <a:srgbClr val="9FB0D6"/>
                </a:solidFill>
                <a:latin typeface="Segoe UI"/>
              </a:rPr>
              <a:t>drop your screenshot here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Evidence-driven, not claim-driven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Demo healthcheck: 16 checks — containers, Flink RUNNING, vehicle_positions 3.5 s, demand_zones 84 s, trips today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Movement realism: 4 checks pass (8/8 distinct, 139/139 moving, 200/200 within 100 m, 80/80 in bbox)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Late-event/watermark test: scripts/test_late_events.py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ML validation: temporal split, baseline-beat table, per-zone RMSE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PERFORMANCE — TARGETS VS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We meet or beat every measured target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017520"/>
                <a:gridCol w="384048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Trip match latency (P95)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&lt; 5 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≈ 1.2 s ✅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GPS position freshness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&lt; 15 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≈ 4 s ✅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Demand zone updates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every 30 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30 s tumbling ✅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Porto ETL (1.7M)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&lt; 5 min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43 MiB Parquet ✅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Flink checkpoints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60 s cadence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25 consecutive, 0 failures ✅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ML forecast API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&lt; 500 ms @ 20 RPS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🟡 Locust run pending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FINAL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End-to-end in five live steps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73736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1.  docker compose up -d → demo-healthcheck.ps1 (all green)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2.  Open Grafana → taxis moving on roads, demand heatmap updating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3.  POST /api/auth/token then POST /api/trips in Swagger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4.  Watch the trip get matched in Grafana + Cassandra row appear</a:t>
            </a:r>
          </a:p>
          <a:p>
            <a:pPr>
              <a:spcAft>
                <a:spcPts val="1300"/>
              </a:spcAft>
            </a:pPr>
            <a:r>
              <a:rPr sz="16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600" b="1">
                <a:solidFill>
                  <a:srgbClr val="E9EEFB"/>
                </a:solidFill>
                <a:latin typeface="Segoe UI"/>
              </a:rPr>
              <a:t>5.  POST /api/demand/forecast → 30-min-ahead prediction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we delivered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55448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Full Kappa pipeline end-to-end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Sub-second matching (P95 ≈ 1.2 s), GPS freshness ≈ 4 s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GBT forecaster: RMSE 3.71 / R² 0.75 / −45.8%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Secured FastAPI (JWT, 7 routes), dual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500K synthetic Casa trips (NYC + Porto + HCP)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Road-snapped live vehicle map + auto verification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✅ 16-container reproducible stack, healthcheck-validated</a:t>
            </a:r>
          </a:p>
        </p:txBody>
      </p:sp>
      <p:pic>
        <p:nvPicPr>
          <p:cNvPr id="8" name="Picture 7" descr="architecture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1148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Real problems, real fixes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67512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Challenge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Solution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Porto coords in Portugal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Linear bbox transform + H3 res-9 lookup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Taxis off-road / frozen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Road-snap + GPS_DISPLAY_MODE=road + snap_dist_m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Low match rate (4.2%)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Fleet 2000 @ 50× → 21%; adjacent fan-out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Label leakage in features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Removed supply*, temporal split, lag-only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No open Casablanca dataset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Synthesize from NYC + Porto + HCP/Glovo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API needs Spark, image slim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Heuristic fallback + optional PYSPARK_ENABLED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FUTURE IMPROVEMENTS (WEEK 7–8)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Security hardening: rotate JWT_SECRET, HTTPS/TLS, Kafka SASL + topic ACLs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Integration tests: pytest + GitHub Actions, assert P95 &lt; 5 s over 200 trips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SLA load test: Locust, 20 RPS, forecast API p99 &lt; 500 ms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Checkpoint-recovery demo: kill a TaskManager, prove resume from MinIO, no duplicates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Idle-cruising GPS behavior to raise match rate further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Week 8: live demo, pitch deck, technical report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BACKUP / FOR THE JURY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Technical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0D6"/>
                </a:solidFill>
                <a:latin typeface="Segoe UI"/>
              </a:rPr>
              <a:t>Serialization · Kafka · Flink · MinIO vs HDFS · GBT · Guarantees</a:t>
            </a:r>
          </a:p>
        </p:txBody>
      </p:sp>
      <p:pic>
        <p:nvPicPr>
          <p:cNvPr id="6" name="Picture 5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640080"/>
            <a:ext cx="2286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T1 · SERIALIZATION &amp; DESERIALIZATION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How events become bytes and back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Serialize = object → bytes for Kafka. Deserialize = bytes → object on consume.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Format = JSON: producers json.dumps(event).encode('utf-8'); Flink json.loads(bytes)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Why JSON over Avro/Protobuf: human-readable + debuggable in Kafka UI, no schema-registry service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0">
                <a:solidFill>
                  <a:srgbClr val="E9EEFB"/>
                </a:solidFill>
                <a:latin typeface="Segoe UI"/>
              </a:rPr>
              <a:t>Inside Flink: state serialized into RocksDB, then checkpointed to MinIO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Trade-off (honest): </a:t>
            </a:r>
            <a:r>
              <a:rPr sz="1400" b="0">
                <a:solidFill>
                  <a:srgbClr val="E9EEFB"/>
                </a:solidFill>
                <a:latin typeface="Segoe UI"/>
              </a:rPr>
              <a:t>Avro/Protobuf would be more compact and schema-enforced — a documented future optimization.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T2 · KAFKA TOPIC &amp; PARTITION-KEY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Deliberate keys, no wasted shuffle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Key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Produced by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Consumed by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raw.gps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taxi_id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GPS producer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Flink Job 1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raw.trips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origin_zone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trip producer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Flink Jobs 2 &amp; 3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processed.gps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taxi_id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Job 1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Job 2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processed.demand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zone_id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Job 2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dashboards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processed.matches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trip_id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Job 3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dashboards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9EEFB"/>
                </a:solidFill>
                <a:latin typeface="Segoe UI"/>
              </a:rPr>
              <a:t>4 partitions · 7-day retention · JSON. Keys align with Flink keyBy → no network reshuffle.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T3 · FLINK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How the real-time engine is wired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45920"/>
            <a:ext cx="6400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JobManager = coordinator; TaskManagers = workers (12 slots)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Each job = Kafka source → keyBy → stateful process fn → sinks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State = RocksDB (on-disk, large keyed state)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1">
                <a:solidFill>
                  <a:srgbClr val="E9EEFB"/>
                </a:solidFill>
                <a:latin typeface="Segoe UI"/>
              </a:rPr>
              <a:t>Checkpoints 60 s → MinIO, EXACTLY_ONCE; offsets commit with checkpoint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400" b="0">
                <a:solidFill>
                  <a:srgbClr val="E9EEFB"/>
                </a:solidFill>
                <a:latin typeface="Segoe UI"/>
              </a:rPr>
              <a:t>Event-time + watermarks; Cassandra via execute_async</a:t>
            </a:r>
          </a:p>
        </p:txBody>
      </p:sp>
      <p:pic>
        <p:nvPicPr>
          <p:cNvPr id="7" name="Picture 6" descr="flink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37360"/>
            <a:ext cx="4389120" cy="36088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T4 · MINIO VS HDFS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Why an object store, not a block file system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97680"/>
                <a:gridCol w="4754880"/>
              </a:tblGrid>
              <a:tr h="5181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HDFS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MinIO (chosen)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Distributed file system (blocks)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Object store (key→object, S3)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Metadata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Central NameNode (SPOF)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No central namenode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Redundancy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128 MB blocks ×3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Erasure coding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Access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hdfs:// client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s3a:// — Spark, Flink, Connect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Ops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NameNode + DataNodes + quorum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Single stateless container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One line: </a:t>
            </a:r>
            <a:r>
              <a:rPr sz="1400" b="0">
                <a:solidFill>
                  <a:srgbClr val="E9EEFB"/>
                </a:solidFill>
                <a:latin typeface="Segoe UI"/>
              </a:rPr>
              <a:t>HDFS = block file system + central metadata server; MinIO = stateless S3 object store — better for a multi-engine Kappa stack.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T5 · GBT VS RANDOM FOREST VS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Why boosting won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3383280"/>
                <a:gridCol w="347472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Naive 7d-lag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GBT (chosen)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Logic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repeat last week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average parallel trees (bagging)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sequential trees fix error (boosting)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Reduces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variance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bias → best on tabular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RMSE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6.84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&gt; GBT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3.71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9EEFB"/>
                </a:solidFill>
                <a:latin typeface="Segoe UI"/>
              </a:rPr>
              <a:t>GBT handles non-linear demand, mixed types (no scaling), interactions for free. </a:t>
            </a:r>
            <a:r>
              <a:rPr sz="1400" b="1">
                <a:solidFill>
                  <a:srgbClr val="22D3EE"/>
                </a:solidFill>
                <a:latin typeface="Segoe UI"/>
              </a:rPr>
              <a:t>−45.8% vs baseline, R² 0.75, all 16 zones improve.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T6 · TWO CORRECTNESS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Trust the numbers, protect the rider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73736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Exactly-once: Flink checkpoints (RocksDB→MinIO every 60 s) commit together with Kafka offsets → crash resumes with NO duplicate matches/counts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Out-of-order safety: 3-min watermarks in Job 1 absorb the producer's 5% blackout (60–180 s late pings)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•  </a:t>
            </a:r>
            <a:r>
              <a:rPr sz="1500" b="1">
                <a:solidFill>
                  <a:srgbClr val="E9EEFB"/>
                </a:solidFill>
                <a:latin typeface="Segoe UI"/>
              </a:rPr>
              <a:t>Privacy by design: GPS_DISPLAY_MODE=anonymized snaps raw lat/lon to centroid + hash jitter BEFORE the Cassandra write — raw coordinate never persists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640080"/>
            <a:ext cx="5943600" cy="396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774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pic>
        <p:nvPicPr>
          <p:cNvPr id="5" name="Picture 4" descr="meetour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200400"/>
            <a:ext cx="54864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9FB0D6"/>
                </a:solidFill>
                <a:latin typeface="Segoe UI"/>
              </a:rPr>
              <a:t>Real-time mobility intelligence · Kappa architecture · 16 containers · ML-backed   ·   github.com/mohamedamineelabidi/CasaMotion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2D6BF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APPENDIX · LIVE SERVICE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Where everything runs</a:t>
            </a:r>
          </a:p>
        </p:txBody>
      </p:sp>
      <p:pic>
        <p:nvPicPr>
          <p:cNvPr id="5" name="Picture 4" descr="logowithou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6355080"/>
            <a:ext cx="466344" cy="3108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120640"/>
                <a:gridCol w="320040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URL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Creds</a:t>
                      </a:r>
                    </a:p>
                  </a:txBody>
                  <a:tcPr marL="73152" marR="73152" marT="27432" marB="27432" anchor="ctr">
                    <a:solidFill>
                      <a:srgbClr val="0F1C4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Grafana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http://localhost:3000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admin / admin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Flink UI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http://localhost:8081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Spark Master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http://localhost:8080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MinIO Console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http://localhost:9001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minioadmin / minioadmin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Kafka UI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http://localhost:8090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14224D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FastAPI Swagger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http://localhost:8000/docs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E9EEFB"/>
                          </a:solidFill>
                          <a:latin typeface="Segoe UI"/>
                        </a:rPr>
                        <a:t>JWT</a:t>
                      </a:r>
                    </a:p>
                  </a:txBody>
                  <a:tcPr marL="73152" marR="73152" marT="27432" marB="27432" anchor="ctr">
                    <a:solidFill>
                      <a:srgbClr val="0A14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Defense Q&amp;A flashcards (15 questions) are in presentation/qa.html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